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38404800" cy="310896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920240" y="1240200"/>
            <a:ext cx="34563960" cy="51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920240" y="7274880"/>
            <a:ext cx="34563960" cy="1803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38405160" cy="4115160"/>
          </a:xfrm>
          <a:custGeom>
            <a:avLst/>
            <a:gdLst/>
            <a:ahLst/>
            <a:rect l="0" t="0" r="r" b="b"/>
            <a:pathLst>
              <a:path w="106681" h="11431">
                <a:moveTo>
                  <a:pt x="0" y="0"/>
                </a:moveTo>
                <a:lnTo>
                  <a:pt x="106681" y="0"/>
                </a:lnTo>
                <a:lnTo>
                  <a:pt x="106681" y="11431"/>
                </a:lnTo>
                <a:lnTo>
                  <a:pt x="0" y="11431"/>
                </a:lnTo>
                <a:lnTo>
                  <a:pt x="0" y="0"/>
                </a:lnTo>
                <a:close/>
              </a:path>
            </a:pathLst>
          </a:custGeom>
          <a:solidFill>
            <a:srgbClr val="091527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1417320" y="365760"/>
            <a:ext cx="35570160" cy="164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5600" spc="-1" strike="noStrike">
                <a:solidFill>
                  <a:srgbClr val="ffffff"/>
                </a:solidFill>
                <a:latin typeface="Arial-Black"/>
                <a:ea typeface="Arial-Black"/>
              </a:rPr>
              <a:t>Real-Time ASL Fingerspelling Recognition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"/>
          <p:cNvSpPr txBox="1"/>
          <p:nvPr/>
        </p:nvSpPr>
        <p:spPr>
          <a:xfrm>
            <a:off x="1417320" y="1920240"/>
            <a:ext cx="3557016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i="1" lang="en-US" sz="2600" spc="-1" strike="noStrike">
                <a:solidFill>
                  <a:srgbClr val="aabbcc"/>
                </a:solidFill>
                <a:latin typeface="Arial-ItalicMT"/>
                <a:ea typeface="Arial-ItalicMT"/>
              </a:rPr>
              <a:t>Single-Frame CNN Pipeline with MediaPipe Hand Detection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"/>
          <p:cNvSpPr txBox="1"/>
          <p:nvPr/>
        </p:nvSpPr>
        <p:spPr>
          <a:xfrm>
            <a:off x="1417320" y="2834640"/>
            <a:ext cx="3557016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000" spc="-1" strike="noStrike">
                <a:solidFill>
                  <a:srgbClr val="8899aa"/>
                </a:solidFill>
                <a:latin typeface="ArialMT"/>
                <a:ea typeface="ArialMT"/>
              </a:rPr>
              <a:t>AJ Zippo  •  Faculty Advisor: Dr. Curry  •  SUNY New Paltz Computer Science Department  •  Spring 2026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0" y="4114800"/>
            <a:ext cx="38405160" cy="110160"/>
          </a:xfrm>
          <a:custGeom>
            <a:avLst/>
            <a:gdLst/>
            <a:ahLst/>
            <a:rect l="0" t="0" r="r" b="b"/>
            <a:pathLst>
              <a:path w="106681" h="306">
                <a:moveTo>
                  <a:pt x="0" y="0"/>
                </a:moveTo>
                <a:lnTo>
                  <a:pt x="106681" y="0"/>
                </a:lnTo>
                <a:lnTo>
                  <a:pt x="106681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640080" y="4663440"/>
            <a:ext cx="11887560" cy="4572360"/>
          </a:xfrm>
          <a:custGeom>
            <a:avLst/>
            <a:gdLst/>
            <a:ahLst/>
            <a:rect l="0" t="0" r="r" b="b"/>
            <a:pathLst>
              <a:path w="33021" h="12701">
                <a:moveTo>
                  <a:pt x="0" y="0"/>
                </a:moveTo>
                <a:lnTo>
                  <a:pt x="33021" y="0"/>
                </a:lnTo>
                <a:lnTo>
                  <a:pt x="33021" y="12701"/>
                </a:lnTo>
                <a:lnTo>
                  <a:pt x="0" y="127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005840" y="48920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OVERVIEW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005840" y="56235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051560" y="5852160"/>
            <a:ext cx="1106424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212121"/>
                </a:solidFill>
                <a:latin typeface="ArialMT"/>
                <a:ea typeface="ArialMT"/>
              </a:rPr>
              <a:t>A live webcam application that recognizes American Sign Language fingerspelling in real time — identifying 27 hand signs (A–Z plus space) at 30 frames per second on a standard laptop with no dedicated GPU.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212121"/>
                </a:solidFill>
                <a:latin typeface="ArialMT"/>
                <a:ea typeface="ArialMT"/>
              </a:rPr>
              <a:t>The system was trained on a combination of a large public dataset and thousands of custom-captured images taken across six different lighting and background conditions, specifically designed to prevent the model from learning environmental shortcuts instead of actual hand shapes.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640080" y="9692640"/>
            <a:ext cx="11887560" cy="5029560"/>
          </a:xfrm>
          <a:custGeom>
            <a:avLst/>
            <a:gdLst/>
            <a:ahLst/>
            <a:rect l="0" t="0" r="r" b="b"/>
            <a:pathLst>
              <a:path w="33021" h="13971">
                <a:moveTo>
                  <a:pt x="0" y="0"/>
                </a:moveTo>
                <a:lnTo>
                  <a:pt x="33021" y="0"/>
                </a:lnTo>
                <a:lnTo>
                  <a:pt x="33021" y="13971"/>
                </a:lnTo>
                <a:lnTo>
                  <a:pt x="0" y="13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005840" y="99212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RESEARCH QUESTIONS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005840" y="106527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051560" y="10881360"/>
            <a:ext cx="11064240" cy="365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200" spc="-1" strike="noStrike">
                <a:solidFill>
                  <a:srgbClr val="c75a11"/>
                </a:solidFill>
                <a:latin typeface="Arial-Black"/>
                <a:ea typeface="Arial-Black"/>
              </a:rPr>
              <a:t>1</a:t>
            </a:r>
            <a:r>
              <a:rPr b="0" lang="en-US" sz="2200" spc="-1" strike="noStrike">
                <a:solidFill>
                  <a:srgbClr val="212121"/>
                </a:solidFill>
                <a:latin typeface="ArialMT"/>
                <a:ea typeface="ArialMT"/>
              </a:rPr>
              <a:t>  Can ASL fingerspelling be recognized in real time on consumer laptops without a dedicated GPU?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c75a11"/>
                </a:solidFill>
                <a:latin typeface="Arial-Black"/>
                <a:ea typeface="Arial-Black"/>
              </a:rPr>
              <a:t>2</a:t>
            </a:r>
            <a:r>
              <a:rPr b="0" lang="en-US" sz="2200" spc="-1" strike="noStrike">
                <a:solidFill>
                  <a:srgbClr val="212121"/>
                </a:solidFill>
                <a:latin typeface="ArialMT"/>
                <a:ea typeface="ArialMT"/>
              </a:rPr>
              <a:t>  How do we close the gap between clean training sets and messy webcam reality?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c75a11"/>
                </a:solidFill>
                <a:latin typeface="Arial-Black"/>
                <a:ea typeface="Arial-Black"/>
              </a:rPr>
              <a:t>3</a:t>
            </a:r>
            <a:r>
              <a:rPr b="0" lang="en-US" sz="2200" spc="-1" strike="noStrike">
                <a:solidFill>
                  <a:srgbClr val="212121"/>
                </a:solidFill>
                <a:latin typeface="ArialMT"/>
                <a:ea typeface="ArialMT"/>
              </a:rPr>
              <a:t>  Which augmentation and capture strategies actually transfer to live use — and which quietly hurt?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2200" spc="-1" strike="noStrike">
                <a:solidFill>
                  <a:srgbClr val="c75a11"/>
                </a:solidFill>
                <a:latin typeface="Arial-Black"/>
                <a:ea typeface="Arial-Black"/>
              </a:rPr>
              <a:t>4</a:t>
            </a:r>
            <a:r>
              <a:rPr b="0" lang="en-US" sz="2200" spc="-1" strike="noStrike">
                <a:solidFill>
                  <a:srgbClr val="212121"/>
                </a:solidFill>
                <a:latin typeface="ArialMT"/>
                <a:ea typeface="ArialMT"/>
              </a:rPr>
              <a:t>  How do you measure deployment-quality accuracy when adjacent webcam frames leak across train/val splits?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40080" y="15179040"/>
            <a:ext cx="11887560" cy="3200760"/>
          </a:xfrm>
          <a:custGeom>
            <a:avLst/>
            <a:gdLst/>
            <a:ahLst/>
            <a:rect l="0" t="0" r="r" b="b"/>
            <a:pathLst>
              <a:path w="33021" h="8891">
                <a:moveTo>
                  <a:pt x="0" y="0"/>
                </a:moveTo>
                <a:lnTo>
                  <a:pt x="33021" y="0"/>
                </a:lnTo>
                <a:lnTo>
                  <a:pt x="33021" y="8891"/>
                </a:lnTo>
                <a:lnTo>
                  <a:pt x="0" y="8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005840" y="154076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TECH STACK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1005840" y="161391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051560" y="16367760"/>
            <a:ext cx="1106424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solidFill>
                  <a:srgbClr val="212121"/>
                </a:solidFill>
                <a:latin typeface="ArialMT"/>
                <a:ea typeface="ArialMT"/>
              </a:rPr>
              <a:t>TensorFlow / Keras  •  MobileNetV2  •  OpenCV  •  MediaPipe  •  Python 3.9  •  Google Colab Pro+ (A100 GPU)  •  macOS M1 (deployment)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40080" y="18836640"/>
            <a:ext cx="11887560" cy="5943960"/>
          </a:xfrm>
          <a:custGeom>
            <a:avLst/>
            <a:gdLst/>
            <a:ahLst/>
            <a:rect l="0" t="0" r="r" b="b"/>
            <a:pathLst>
              <a:path w="33021" h="16511">
                <a:moveTo>
                  <a:pt x="0" y="0"/>
                </a:moveTo>
                <a:lnTo>
                  <a:pt x="33021" y="0"/>
                </a:lnTo>
                <a:lnTo>
                  <a:pt x="33021" y="16511"/>
                </a:lnTo>
                <a:lnTo>
                  <a:pt x="0" y="165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005840" y="190652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DATA CAPTURE STRATEGY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005840" y="197967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05840" y="20025360"/>
            <a:ext cx="111556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i="1" lang="en-US" sz="2200" spc="-1" strike="noStrike">
                <a:solidFill>
                  <a:srgbClr val="7b39ed"/>
                </a:solidFill>
                <a:latin typeface="Arial-BoldItalicMT"/>
                <a:ea typeface="Arial-BoldItalicMT"/>
              </a:rPr>
              <a:t>~2,850 images/letter  ×  27 classes  ×  6 conditions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1005840" y="20848320"/>
            <a:ext cx="3383640" cy="1463400"/>
          </a:xfrm>
          <a:custGeom>
            <a:avLst/>
            <a:gdLst/>
            <a:ahLst/>
            <a:rect l="0" t="0" r="r" b="b"/>
            <a:pathLst>
              <a:path w="9399" h="4065">
                <a:moveTo>
                  <a:pt x="9095" y="0"/>
                </a:moveTo>
                <a:cubicBezTo>
                  <a:pt x="9298" y="0"/>
                  <a:pt x="9399" y="101"/>
                  <a:pt x="9399" y="304"/>
                </a:cubicBezTo>
                <a:lnTo>
                  <a:pt x="9399" y="3761"/>
                </a:lnTo>
                <a:cubicBezTo>
                  <a:pt x="9399" y="3964"/>
                  <a:pt x="9298" y="4065"/>
                  <a:pt x="9095" y="4065"/>
                </a:cubicBezTo>
                <a:lnTo>
                  <a:pt x="304" y="4065"/>
                </a:lnTo>
                <a:cubicBezTo>
                  <a:pt x="101" y="4065"/>
                  <a:pt x="0" y="3964"/>
                  <a:pt x="0" y="3761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9095" y="0"/>
                </a:lnTo>
                <a:close/>
              </a:path>
            </a:pathLst>
          </a:custGeom>
          <a:solidFill>
            <a:srgbClr val="2462eb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005840" y="20985480"/>
            <a:ext cx="338328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Main Area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005840" y="21534120"/>
            <a:ext cx="33832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white wall, top +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window light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800600" y="20848320"/>
            <a:ext cx="3383640" cy="1463400"/>
          </a:xfrm>
          <a:custGeom>
            <a:avLst/>
            <a:gdLst/>
            <a:ahLst/>
            <a:rect l="0" t="0" r="r" b="b"/>
            <a:pathLst>
              <a:path w="9399" h="4065">
                <a:moveTo>
                  <a:pt x="9095" y="0"/>
                </a:moveTo>
                <a:cubicBezTo>
                  <a:pt x="9298" y="0"/>
                  <a:pt x="9399" y="101"/>
                  <a:pt x="9399" y="304"/>
                </a:cubicBezTo>
                <a:lnTo>
                  <a:pt x="9399" y="3761"/>
                </a:lnTo>
                <a:cubicBezTo>
                  <a:pt x="9399" y="3964"/>
                  <a:pt x="9298" y="4065"/>
                  <a:pt x="9095" y="4065"/>
                </a:cubicBezTo>
                <a:lnTo>
                  <a:pt x="304" y="4065"/>
                </a:lnTo>
                <a:cubicBezTo>
                  <a:pt x="101" y="4065"/>
                  <a:pt x="0" y="3964"/>
                  <a:pt x="0" y="3761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9095" y="0"/>
                </a:lnTo>
                <a:close/>
              </a:path>
            </a:pathLst>
          </a:custGeom>
          <a:solidFill>
            <a:srgbClr val="46546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800600" y="20985480"/>
            <a:ext cx="338328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Dim Room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800600" y="21534120"/>
            <a:ext cx="33832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blank wall, low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ambient light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595360" y="20848320"/>
            <a:ext cx="3383640" cy="1463400"/>
          </a:xfrm>
          <a:custGeom>
            <a:avLst/>
            <a:gdLst/>
            <a:ahLst/>
            <a:rect l="0" t="0" r="r" b="b"/>
            <a:pathLst>
              <a:path w="9399" h="4065">
                <a:moveTo>
                  <a:pt x="9095" y="0"/>
                </a:moveTo>
                <a:cubicBezTo>
                  <a:pt x="9298" y="0"/>
                  <a:pt x="9399" y="101"/>
                  <a:pt x="9399" y="304"/>
                </a:cubicBezTo>
                <a:lnTo>
                  <a:pt x="9399" y="3761"/>
                </a:lnTo>
                <a:cubicBezTo>
                  <a:pt x="9399" y="3964"/>
                  <a:pt x="9298" y="4065"/>
                  <a:pt x="9095" y="4065"/>
                </a:cubicBezTo>
                <a:lnTo>
                  <a:pt x="304" y="4065"/>
                </a:lnTo>
                <a:cubicBezTo>
                  <a:pt x="101" y="4065"/>
                  <a:pt x="0" y="3964"/>
                  <a:pt x="0" y="3761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9095" y="0"/>
                </a:lnTo>
                <a:close/>
              </a:path>
            </a:pathLst>
          </a:custGeom>
          <a:solidFill>
            <a:srgbClr val="0791b2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8595360" y="20985480"/>
            <a:ext cx="338328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Whiteboard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595360" y="21534120"/>
            <a:ext cx="33832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handwritten content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&amp; shapes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005840" y="22585680"/>
            <a:ext cx="3383640" cy="1463400"/>
          </a:xfrm>
          <a:custGeom>
            <a:avLst/>
            <a:gdLst/>
            <a:ahLst/>
            <a:rect l="0" t="0" r="r" b="b"/>
            <a:pathLst>
              <a:path w="9399" h="4065">
                <a:moveTo>
                  <a:pt x="9095" y="0"/>
                </a:moveTo>
                <a:cubicBezTo>
                  <a:pt x="9298" y="0"/>
                  <a:pt x="9399" y="101"/>
                  <a:pt x="9399" y="304"/>
                </a:cubicBezTo>
                <a:lnTo>
                  <a:pt x="9399" y="3761"/>
                </a:lnTo>
                <a:cubicBezTo>
                  <a:pt x="9399" y="3964"/>
                  <a:pt x="9298" y="4065"/>
                  <a:pt x="9095" y="4065"/>
                </a:cubicBezTo>
                <a:lnTo>
                  <a:pt x="304" y="4065"/>
                </a:lnTo>
                <a:cubicBezTo>
                  <a:pt x="101" y="4065"/>
                  <a:pt x="0" y="3964"/>
                  <a:pt x="0" y="3761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9095" y="0"/>
                </a:lnTo>
                <a:close/>
              </a:path>
            </a:pathLst>
          </a:custGeom>
          <a:solidFill>
            <a:srgbClr val="d9760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005840" y="22722840"/>
            <a:ext cx="338328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Wood Panel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05840" y="23271480"/>
            <a:ext cx="33832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textured non-blank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surface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800600" y="22585680"/>
            <a:ext cx="3383640" cy="1463400"/>
          </a:xfrm>
          <a:custGeom>
            <a:avLst/>
            <a:gdLst/>
            <a:ahLst/>
            <a:rect l="0" t="0" r="r" b="b"/>
            <a:pathLst>
              <a:path w="9399" h="4065">
                <a:moveTo>
                  <a:pt x="9095" y="0"/>
                </a:moveTo>
                <a:cubicBezTo>
                  <a:pt x="9298" y="0"/>
                  <a:pt x="9399" y="101"/>
                  <a:pt x="9399" y="304"/>
                </a:cubicBezTo>
                <a:lnTo>
                  <a:pt x="9399" y="3761"/>
                </a:lnTo>
                <a:cubicBezTo>
                  <a:pt x="9399" y="3964"/>
                  <a:pt x="9298" y="4065"/>
                  <a:pt x="9095" y="4065"/>
                </a:cubicBezTo>
                <a:lnTo>
                  <a:pt x="304" y="4065"/>
                </a:lnTo>
                <a:cubicBezTo>
                  <a:pt x="101" y="4065"/>
                  <a:pt x="0" y="3964"/>
                  <a:pt x="0" y="3761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9095" y="0"/>
                </a:lnTo>
                <a:close/>
              </a:path>
            </a:pathLst>
          </a:custGeom>
          <a:solidFill>
            <a:srgbClr val="7b39e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4800600" y="22722840"/>
            <a:ext cx="338328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Bookshelf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800600" y="23271480"/>
            <a:ext cx="33832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cluttered: chair,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books, frames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595360" y="22585680"/>
            <a:ext cx="3383640" cy="1463400"/>
          </a:xfrm>
          <a:custGeom>
            <a:avLst/>
            <a:gdLst/>
            <a:ahLst/>
            <a:rect l="0" t="0" r="r" b="b"/>
            <a:pathLst>
              <a:path w="9399" h="4065">
                <a:moveTo>
                  <a:pt x="9095" y="0"/>
                </a:moveTo>
                <a:cubicBezTo>
                  <a:pt x="9298" y="0"/>
                  <a:pt x="9399" y="101"/>
                  <a:pt x="9399" y="304"/>
                </a:cubicBezTo>
                <a:lnTo>
                  <a:pt x="9399" y="3761"/>
                </a:lnTo>
                <a:cubicBezTo>
                  <a:pt x="9399" y="3964"/>
                  <a:pt x="9298" y="4065"/>
                  <a:pt x="9095" y="4065"/>
                </a:cubicBezTo>
                <a:lnTo>
                  <a:pt x="304" y="4065"/>
                </a:lnTo>
                <a:cubicBezTo>
                  <a:pt x="101" y="4065"/>
                  <a:pt x="0" y="3964"/>
                  <a:pt x="0" y="3761"/>
                </a:cubicBezTo>
                <a:lnTo>
                  <a:pt x="0" y="304"/>
                </a:lnTo>
                <a:cubicBezTo>
                  <a:pt x="0" y="101"/>
                  <a:pt x="101" y="0"/>
                  <a:pt x="304" y="0"/>
                </a:cubicBezTo>
                <a:lnTo>
                  <a:pt x="9095" y="0"/>
                </a:lnTo>
                <a:close/>
              </a:path>
            </a:pathLst>
          </a:custGeom>
          <a:solidFill>
            <a:srgbClr val="04966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595360" y="22722840"/>
            <a:ext cx="3383280" cy="54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Yellow Wall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595360" y="23271480"/>
            <a:ext cx="3383280" cy="64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different room,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400" spc="-1" strike="noStrike">
                <a:solidFill>
                  <a:srgbClr val="ddddee"/>
                </a:solidFill>
                <a:latin typeface="ArialMT"/>
                <a:ea typeface="ArialMT"/>
              </a:rPr>
              <a:t>color-cast light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40080" y="25237440"/>
            <a:ext cx="11887560" cy="3117960"/>
          </a:xfrm>
          <a:custGeom>
            <a:avLst/>
            <a:gdLst/>
            <a:ahLst/>
            <a:rect l="0" t="0" r="r" b="b"/>
            <a:pathLst>
              <a:path w="33021" h="8661">
                <a:moveTo>
                  <a:pt x="0" y="0"/>
                </a:moveTo>
                <a:lnTo>
                  <a:pt x="33021" y="0"/>
                </a:lnTo>
                <a:lnTo>
                  <a:pt x="33021" y="8661"/>
                </a:lnTo>
                <a:lnTo>
                  <a:pt x="0" y="866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005840" y="254660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ACKNOWLEDGEMENTS &amp; REFERENCES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05840" y="261975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51560" y="26334720"/>
            <a:ext cx="1106424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CPS 485 Senior Capstone, SUNY New Paltz CS Dept. Thanks to my advisor and the Kaggle ASL dataset community.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600" spc="-1" strike="noStrike">
                <a:solidFill>
                  <a:srgbClr val="656565"/>
                </a:solidFill>
                <a:latin typeface="ArialMT"/>
                <a:ea typeface="ArialMT"/>
              </a:rPr>
              <a:t>Howard et al. (2018) MobileNetV2, CVPR  •  Zhang et al. (2020) MediaPipe Hands, CVPR  •  Kaggle: grassknoted/asl-alphabet  •  TensorFlow  •  OpenCV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3075920" y="4663440"/>
            <a:ext cx="11887560" cy="8687160"/>
          </a:xfrm>
          <a:custGeom>
            <a:avLst/>
            <a:gdLst/>
            <a:ahLst/>
            <a:rect l="0" t="0" r="r" b="b"/>
            <a:pathLst>
              <a:path w="33021" h="24131">
                <a:moveTo>
                  <a:pt x="0" y="0"/>
                </a:moveTo>
                <a:lnTo>
                  <a:pt x="33021" y="0"/>
                </a:lnTo>
                <a:lnTo>
                  <a:pt x="33021" y="24131"/>
                </a:lnTo>
                <a:lnTo>
                  <a:pt x="0" y="241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3441680" y="48920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INFERENCE PIPELINE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3441680" y="56235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4173200" y="5943600"/>
            <a:ext cx="5029560" cy="731880"/>
          </a:xfrm>
          <a:custGeom>
            <a:avLst/>
            <a:gdLst/>
            <a:ahLst/>
            <a:rect l="0" t="0" r="r" b="b"/>
            <a:pathLst>
              <a:path w="13971" h="2033">
                <a:moveTo>
                  <a:pt x="13590" y="0"/>
                </a:moveTo>
                <a:cubicBezTo>
                  <a:pt x="13844" y="0"/>
                  <a:pt x="13971" y="127"/>
                  <a:pt x="13971" y="380"/>
                </a:cubicBezTo>
                <a:lnTo>
                  <a:pt x="13971" y="1652"/>
                </a:lnTo>
                <a:cubicBezTo>
                  <a:pt x="13971" y="1906"/>
                  <a:pt x="13844" y="2033"/>
                  <a:pt x="13590" y="2033"/>
                </a:cubicBezTo>
                <a:lnTo>
                  <a:pt x="380" y="2033"/>
                </a:lnTo>
                <a:cubicBezTo>
                  <a:pt x="127" y="2033"/>
                  <a:pt x="0" y="1906"/>
                  <a:pt x="0" y="1652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13590" y="0"/>
                </a:lnTo>
                <a:close/>
              </a:path>
            </a:pathLst>
          </a:custGeom>
          <a:solidFill>
            <a:srgbClr val="46546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4173200" y="5943600"/>
            <a:ext cx="50292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Arial-BoldMT"/>
                <a:ea typeface="Arial-BoldMT"/>
              </a:rPr>
              <a:t>Webcam Frame (30 FPS)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9933920" y="594360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465468"/>
                </a:solidFill>
                <a:latin typeface="Arial-BoldMT"/>
                <a:ea typeface="Arial-BoldMT"/>
              </a:rPr>
              <a:t>INPUT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6687800" y="6675120"/>
            <a:ext cx="0" cy="27432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4173200" y="6995160"/>
            <a:ext cx="5029560" cy="731880"/>
          </a:xfrm>
          <a:custGeom>
            <a:avLst/>
            <a:gdLst/>
            <a:ahLst/>
            <a:rect l="0" t="0" r="r" b="b"/>
            <a:pathLst>
              <a:path w="13971" h="2033">
                <a:moveTo>
                  <a:pt x="13590" y="0"/>
                </a:moveTo>
                <a:cubicBezTo>
                  <a:pt x="13844" y="0"/>
                  <a:pt x="13971" y="127"/>
                  <a:pt x="13971" y="380"/>
                </a:cubicBezTo>
                <a:lnTo>
                  <a:pt x="13971" y="1652"/>
                </a:lnTo>
                <a:cubicBezTo>
                  <a:pt x="13971" y="1906"/>
                  <a:pt x="13844" y="2033"/>
                  <a:pt x="13590" y="2033"/>
                </a:cubicBezTo>
                <a:lnTo>
                  <a:pt x="380" y="2033"/>
                </a:lnTo>
                <a:cubicBezTo>
                  <a:pt x="127" y="2033"/>
                  <a:pt x="0" y="1906"/>
                  <a:pt x="0" y="1652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13590" y="0"/>
                </a:lnTo>
                <a:close/>
              </a:path>
            </a:pathLst>
          </a:custGeom>
          <a:solidFill>
            <a:srgbClr val="0791b2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4173200" y="6995160"/>
            <a:ext cx="50292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Arial-BoldMT"/>
                <a:ea typeface="Arial-BoldMT"/>
              </a:rPr>
              <a:t>MediaPipe Hand Detection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9933920" y="699516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791b2"/>
                </a:solidFill>
                <a:latin typeface="Arial-BoldMT"/>
                <a:ea typeface="Arial-BoldMT"/>
              </a:rPr>
              <a:t>LOCATE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6687800" y="7726680"/>
            <a:ext cx="0" cy="27432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4173200" y="8046720"/>
            <a:ext cx="5029560" cy="914760"/>
          </a:xfrm>
          <a:custGeom>
            <a:avLst/>
            <a:gdLst/>
            <a:ahLst/>
            <a:rect l="0" t="0" r="r" b="b"/>
            <a:pathLst>
              <a:path w="13971" h="2541">
                <a:moveTo>
                  <a:pt x="13589" y="0"/>
                </a:moveTo>
                <a:cubicBezTo>
                  <a:pt x="13844" y="0"/>
                  <a:pt x="13971" y="127"/>
                  <a:pt x="13971" y="381"/>
                </a:cubicBezTo>
                <a:lnTo>
                  <a:pt x="13971" y="2159"/>
                </a:lnTo>
                <a:cubicBezTo>
                  <a:pt x="13971" y="2414"/>
                  <a:pt x="13844" y="2541"/>
                  <a:pt x="13589" y="2541"/>
                </a:cubicBezTo>
                <a:lnTo>
                  <a:pt x="381" y="2541"/>
                </a:lnTo>
                <a:cubicBezTo>
                  <a:pt x="127" y="2541"/>
                  <a:pt x="0" y="2414"/>
                  <a:pt x="0" y="2159"/>
                </a:cubicBezTo>
                <a:lnTo>
                  <a:pt x="0" y="381"/>
                </a:lnTo>
                <a:cubicBezTo>
                  <a:pt x="0" y="127"/>
                  <a:pt x="127" y="0"/>
                  <a:pt x="381" y="0"/>
                </a:cubicBezTo>
                <a:lnTo>
                  <a:pt x="13589" y="0"/>
                </a:lnTo>
                <a:close/>
              </a:path>
            </a:pathLst>
          </a:custGeom>
          <a:solidFill>
            <a:srgbClr val="2462eb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4173200" y="8046720"/>
            <a:ext cx="50292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Arial-BoldMT"/>
                <a:ea typeface="Arial-BoldMT"/>
              </a:rPr>
              <a:t>Square Crop + Zero-Pad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Arial-BoldMT"/>
                <a:ea typeface="Arial-BoldMT"/>
              </a:rPr>
              <a:t>Resize 256×256 → RGB float32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9933920" y="8046720"/>
            <a:ext cx="45720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2462eb"/>
                </a:solidFill>
                <a:latin typeface="Arial-BoldMT"/>
                <a:ea typeface="Arial-BoldMT"/>
              </a:rPr>
              <a:t>PREPROCESS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6687800" y="8961120"/>
            <a:ext cx="0" cy="27432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4173200" y="9281160"/>
            <a:ext cx="5029560" cy="731880"/>
          </a:xfrm>
          <a:custGeom>
            <a:avLst/>
            <a:gdLst/>
            <a:ahLst/>
            <a:rect l="0" t="0" r="r" b="b"/>
            <a:pathLst>
              <a:path w="13971" h="2033">
                <a:moveTo>
                  <a:pt x="13590" y="0"/>
                </a:moveTo>
                <a:cubicBezTo>
                  <a:pt x="13844" y="0"/>
                  <a:pt x="13971" y="127"/>
                  <a:pt x="13971" y="380"/>
                </a:cubicBezTo>
                <a:lnTo>
                  <a:pt x="13971" y="1652"/>
                </a:lnTo>
                <a:cubicBezTo>
                  <a:pt x="13971" y="1906"/>
                  <a:pt x="13844" y="2033"/>
                  <a:pt x="13590" y="2033"/>
                </a:cubicBezTo>
                <a:lnTo>
                  <a:pt x="380" y="2033"/>
                </a:lnTo>
                <a:cubicBezTo>
                  <a:pt x="127" y="2033"/>
                  <a:pt x="0" y="1906"/>
                  <a:pt x="0" y="1652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13590" y="0"/>
                </a:lnTo>
                <a:close/>
              </a:path>
            </a:pathLst>
          </a:custGeom>
          <a:solidFill>
            <a:srgbClr val="7b39e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4173200" y="9281160"/>
            <a:ext cx="50292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Arial-BoldMT"/>
                <a:ea typeface="Arial-BoldMT"/>
              </a:rPr>
              <a:t>MobileNetV2 Backbone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9933920" y="928116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7b39ed"/>
                </a:solidFill>
                <a:latin typeface="Arial-BoldMT"/>
                <a:ea typeface="Arial-BoldMT"/>
              </a:rPr>
              <a:t>MODEL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6687800" y="10012680"/>
            <a:ext cx="0" cy="27432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4173200" y="10332720"/>
            <a:ext cx="5029560" cy="731880"/>
          </a:xfrm>
          <a:custGeom>
            <a:avLst/>
            <a:gdLst/>
            <a:ahLst/>
            <a:rect l="0" t="0" r="r" b="b"/>
            <a:pathLst>
              <a:path w="13971" h="2033">
                <a:moveTo>
                  <a:pt x="13590" y="0"/>
                </a:moveTo>
                <a:cubicBezTo>
                  <a:pt x="13844" y="0"/>
                  <a:pt x="13971" y="127"/>
                  <a:pt x="13971" y="380"/>
                </a:cubicBezTo>
                <a:lnTo>
                  <a:pt x="13971" y="1652"/>
                </a:lnTo>
                <a:cubicBezTo>
                  <a:pt x="13971" y="1906"/>
                  <a:pt x="13844" y="2033"/>
                  <a:pt x="13590" y="2033"/>
                </a:cubicBezTo>
                <a:lnTo>
                  <a:pt x="380" y="2033"/>
                </a:lnTo>
                <a:cubicBezTo>
                  <a:pt x="127" y="2033"/>
                  <a:pt x="0" y="1906"/>
                  <a:pt x="0" y="1652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13590" y="0"/>
                </a:lnTo>
                <a:close/>
              </a:path>
            </a:pathLst>
          </a:custGeom>
          <a:solidFill>
            <a:srgbClr val="7b39e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4173200" y="10332720"/>
            <a:ext cx="50292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Arial-BoldMT"/>
                <a:ea typeface="Arial-BoldMT"/>
              </a:rPr>
              <a:t>Dense 512 → 256 → 27 Softmax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9933920" y="1033272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7b39ed"/>
                </a:solidFill>
                <a:latin typeface="Arial-BoldMT"/>
                <a:ea typeface="Arial-BoldMT"/>
              </a:rPr>
              <a:t>CLASSIFY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6687800" y="11064240"/>
            <a:ext cx="0" cy="27432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4173200" y="11384280"/>
            <a:ext cx="5029560" cy="731880"/>
          </a:xfrm>
          <a:custGeom>
            <a:avLst/>
            <a:gdLst/>
            <a:ahLst/>
            <a:rect l="0" t="0" r="r" b="b"/>
            <a:pathLst>
              <a:path w="13971" h="2033">
                <a:moveTo>
                  <a:pt x="13590" y="0"/>
                </a:moveTo>
                <a:cubicBezTo>
                  <a:pt x="13844" y="0"/>
                  <a:pt x="13971" y="127"/>
                  <a:pt x="13971" y="380"/>
                </a:cubicBezTo>
                <a:lnTo>
                  <a:pt x="13971" y="1652"/>
                </a:lnTo>
                <a:cubicBezTo>
                  <a:pt x="13971" y="1906"/>
                  <a:pt x="13844" y="2033"/>
                  <a:pt x="13590" y="2033"/>
                </a:cubicBezTo>
                <a:lnTo>
                  <a:pt x="380" y="2033"/>
                </a:lnTo>
                <a:cubicBezTo>
                  <a:pt x="127" y="2033"/>
                  <a:pt x="0" y="1906"/>
                  <a:pt x="0" y="1652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13590" y="0"/>
                </a:lnTo>
                <a:close/>
              </a:path>
            </a:pathLst>
          </a:custGeom>
          <a:solidFill>
            <a:srgbClr val="04966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4173200" y="11384280"/>
            <a:ext cx="50292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Arial-BoldMT"/>
                <a:ea typeface="Arial-BoldMT"/>
              </a:rPr>
              <a:t>6-Frame Agreement Smoothing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9933920" y="1138428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049668"/>
                </a:solidFill>
                <a:latin typeface="Arial-BoldMT"/>
                <a:ea typeface="Arial-BoldMT"/>
              </a:rPr>
              <a:t>STABILIZE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6687800" y="12115800"/>
            <a:ext cx="0" cy="27432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4173200" y="12435840"/>
            <a:ext cx="5029560" cy="731880"/>
          </a:xfrm>
          <a:custGeom>
            <a:avLst/>
            <a:gdLst/>
            <a:ahLst/>
            <a:rect l="0" t="0" r="r" b="b"/>
            <a:pathLst>
              <a:path w="13971" h="2033">
                <a:moveTo>
                  <a:pt x="13590" y="0"/>
                </a:moveTo>
                <a:cubicBezTo>
                  <a:pt x="13844" y="0"/>
                  <a:pt x="13971" y="127"/>
                  <a:pt x="13971" y="380"/>
                </a:cubicBezTo>
                <a:lnTo>
                  <a:pt x="13971" y="1652"/>
                </a:lnTo>
                <a:cubicBezTo>
                  <a:pt x="13971" y="1906"/>
                  <a:pt x="13844" y="2033"/>
                  <a:pt x="13590" y="2033"/>
                </a:cubicBezTo>
                <a:lnTo>
                  <a:pt x="380" y="2033"/>
                </a:lnTo>
                <a:cubicBezTo>
                  <a:pt x="127" y="2033"/>
                  <a:pt x="0" y="1906"/>
                  <a:pt x="0" y="1652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13590" y="0"/>
                </a:lnTo>
                <a:close/>
              </a:path>
            </a:pathLst>
          </a:custGeom>
          <a:solidFill>
            <a:srgbClr val="d9760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4173200" y="12435840"/>
            <a:ext cx="50292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Arial-BoldMT"/>
                <a:ea typeface="Arial-BoldMT"/>
              </a:rPr>
              <a:t>Predicted Letter + Confidence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9933920" y="12435840"/>
            <a:ext cx="457200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600" spc="-1" strike="noStrike">
                <a:solidFill>
                  <a:srgbClr val="d97605"/>
                </a:solidFill>
                <a:latin typeface="Arial-BoldMT"/>
                <a:ea typeface="Arial-BoldMT"/>
              </a:rPr>
              <a:t>OUTPUT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3075920" y="13807440"/>
            <a:ext cx="11887560" cy="6858360"/>
          </a:xfrm>
          <a:custGeom>
            <a:avLst/>
            <a:gdLst/>
            <a:ahLst/>
            <a:rect l="0" t="0" r="r" b="b"/>
            <a:pathLst>
              <a:path w="33021" h="19051">
                <a:moveTo>
                  <a:pt x="0" y="0"/>
                </a:moveTo>
                <a:lnTo>
                  <a:pt x="33021" y="0"/>
                </a:lnTo>
                <a:lnTo>
                  <a:pt x="33021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3441680" y="140360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MODEL ARCHITECTURE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3441680" y="147675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3487400" y="14996160"/>
            <a:ext cx="11064240" cy="652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7b39ed"/>
                </a:solidFill>
                <a:latin typeface="Arial-BoldMT"/>
                <a:ea typeface="Arial-BoldMT"/>
              </a:rPr>
              <a:t>Why Transfer Learning?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With ~4,000 images per class, training a CNN from scratch would not learn reliable visual features. Transfer learning reuses a backbone pretrained on 1.4 million ImageNet images — it already understands edges, curves, textures, and shapes. We only need to teach it what those features mean for ASL hand signs.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800" spc="-1" strike="noStrike">
                <a:solidFill>
                  <a:srgbClr val="7b39ed"/>
                </a:solidFill>
                <a:latin typeface="Arial-BoldMT"/>
                <a:ea typeface="Arial-BoldMT"/>
              </a:rPr>
              <a:t>Backbone: MobileNetV2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Chosen for its efficiency — lightweight enough to run inference at 30 FPS on a Mac M1 with no GPU, while still extracting rich visual features. The backbone outputs a 1,280-dimensional feature vector per image via GlobalAveragePooling, compressing spatial information into a compact representation.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800" spc="-1" strike="noStrike">
                <a:solidFill>
                  <a:srgbClr val="7b39ed"/>
                </a:solidFill>
                <a:latin typeface="Arial-BoldMT"/>
                <a:ea typeface="Arial-BoldMT"/>
              </a:rPr>
              <a:t>Classification Head: 512 → 256 → 27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Two Dense layers with ReLU activation progressively narrow the 1,280 features to 27 class probabilities. Dropout (30%) randomly disables neurons during training, forcing the network to learn redundant representations and preventing overfitting. Final softmax outputs a probability distribution summing to 1.0.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1800" spc="-1" strike="noStrike">
                <a:solidFill>
                  <a:srgbClr val="7b39ed"/>
                </a:solidFill>
                <a:latin typeface="Arial-BoldMT"/>
                <a:ea typeface="Arial-BoldMT"/>
              </a:rPr>
              <a:t>Built-In Preprocessing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Augmentation layers (rotation, zoom, brightness, contrast, translation) and pixel scaling (preprocess_input: [0,255] → [-1,1]) are embedded inside the model graph. Augmentation activates only during training; scaling runs identically in both training and inference, guaranteeing the model always sees the same data format.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i="1" lang="en-US" sz="1800" spc="-1" strike="noStrike">
                <a:solidFill>
                  <a:srgbClr val="c75a11"/>
                </a:solidFill>
                <a:latin typeface="Arial-BoldItalicMT"/>
                <a:ea typeface="Arial-BoldItalicMT"/>
              </a:rPr>
              <a:t>Input: 256×256×3 RGB  →  Output: 27 probabilities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3075920" y="21122640"/>
            <a:ext cx="11887560" cy="7235640"/>
          </a:xfrm>
          <a:custGeom>
            <a:avLst/>
            <a:gdLst/>
            <a:ahLst/>
            <a:rect l="0" t="0" r="r" b="b"/>
            <a:pathLst>
              <a:path w="33021" h="20099">
                <a:moveTo>
                  <a:pt x="0" y="0"/>
                </a:moveTo>
                <a:lnTo>
                  <a:pt x="33021" y="0"/>
                </a:lnTo>
                <a:lnTo>
                  <a:pt x="33021" y="20099"/>
                </a:lnTo>
                <a:lnTo>
                  <a:pt x="0" y="200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3441680" y="213512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TRAINING PIPELINE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13441680" y="220827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3716000" y="22311360"/>
            <a:ext cx="4572360" cy="914760"/>
          </a:xfrm>
          <a:custGeom>
            <a:avLst/>
            <a:gdLst/>
            <a:ahLst/>
            <a:rect l="0" t="0" r="r" b="b"/>
            <a:pathLst>
              <a:path w="12701" h="2541">
                <a:moveTo>
                  <a:pt x="12319" y="0"/>
                </a:moveTo>
                <a:cubicBezTo>
                  <a:pt x="12574" y="0"/>
                  <a:pt x="12701" y="127"/>
                  <a:pt x="12701" y="381"/>
                </a:cubicBezTo>
                <a:lnTo>
                  <a:pt x="12701" y="2159"/>
                </a:lnTo>
                <a:cubicBezTo>
                  <a:pt x="12701" y="2414"/>
                  <a:pt x="12574" y="2541"/>
                  <a:pt x="12319" y="2541"/>
                </a:cubicBezTo>
                <a:lnTo>
                  <a:pt x="381" y="2541"/>
                </a:lnTo>
                <a:cubicBezTo>
                  <a:pt x="127" y="2541"/>
                  <a:pt x="0" y="2414"/>
                  <a:pt x="0" y="2159"/>
                </a:cubicBezTo>
                <a:lnTo>
                  <a:pt x="0" y="381"/>
                </a:lnTo>
                <a:cubicBezTo>
                  <a:pt x="0" y="127"/>
                  <a:pt x="127" y="0"/>
                  <a:pt x="381" y="0"/>
                </a:cubicBezTo>
                <a:lnTo>
                  <a:pt x="12319" y="0"/>
                </a:lnTo>
                <a:close/>
              </a:path>
            </a:pathLst>
          </a:custGeom>
          <a:solidFill>
            <a:srgbClr val="2462eb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3716000" y="22311360"/>
            <a:ext cx="45720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Arial-BoldMT"/>
                <a:ea typeface="Arial-BoldMT"/>
              </a:rPr>
              <a:t>Kaggle ASL Alphabet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Arial-BoldMT"/>
                <a:ea typeface="Arial-BoldMT"/>
              </a:rPr>
              <a:t>~3,000 imgs/class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8836640" y="22311360"/>
            <a:ext cx="4572360" cy="914760"/>
          </a:xfrm>
          <a:custGeom>
            <a:avLst/>
            <a:gdLst/>
            <a:ahLst/>
            <a:rect l="0" t="0" r="r" b="b"/>
            <a:pathLst>
              <a:path w="12701" h="2541">
                <a:moveTo>
                  <a:pt x="12319" y="0"/>
                </a:moveTo>
                <a:cubicBezTo>
                  <a:pt x="12574" y="0"/>
                  <a:pt x="12701" y="127"/>
                  <a:pt x="12701" y="381"/>
                </a:cubicBezTo>
                <a:lnTo>
                  <a:pt x="12701" y="2159"/>
                </a:lnTo>
                <a:cubicBezTo>
                  <a:pt x="12701" y="2414"/>
                  <a:pt x="12574" y="2541"/>
                  <a:pt x="12319" y="2541"/>
                </a:cubicBezTo>
                <a:lnTo>
                  <a:pt x="381" y="2541"/>
                </a:lnTo>
                <a:cubicBezTo>
                  <a:pt x="127" y="2541"/>
                  <a:pt x="0" y="2414"/>
                  <a:pt x="0" y="2159"/>
                </a:cubicBezTo>
                <a:lnTo>
                  <a:pt x="0" y="381"/>
                </a:lnTo>
                <a:cubicBezTo>
                  <a:pt x="0" y="127"/>
                  <a:pt x="127" y="0"/>
                  <a:pt x="381" y="0"/>
                </a:cubicBezTo>
                <a:lnTo>
                  <a:pt x="12319" y="0"/>
                </a:lnTo>
                <a:close/>
              </a:path>
            </a:pathLst>
          </a:custGeom>
          <a:solidFill>
            <a:srgbClr val="0791b2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8836640" y="22311360"/>
            <a:ext cx="45720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Arial-BoldMT"/>
                <a:ea typeface="Arial-BoldMT"/>
              </a:rPr>
              <a:t>Webcam Captures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Arial-BoldMT"/>
                <a:ea typeface="Arial-BoldMT"/>
              </a:rPr>
              <a:t>~2,850 imgs/class • 6 conditions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8562320" y="23225760"/>
            <a:ext cx="0" cy="32004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3716000" y="23682960"/>
            <a:ext cx="10515960" cy="2012040"/>
          </a:xfrm>
          <a:custGeom>
            <a:avLst/>
            <a:gdLst/>
            <a:ahLst/>
            <a:rect l="0" t="0" r="r" b="b"/>
            <a:pathLst>
              <a:path w="29211" h="5589">
                <a:moveTo>
                  <a:pt x="28830" y="0"/>
                </a:moveTo>
                <a:cubicBezTo>
                  <a:pt x="29084" y="0"/>
                  <a:pt x="29211" y="127"/>
                  <a:pt x="29211" y="380"/>
                </a:cubicBezTo>
                <a:lnTo>
                  <a:pt x="29211" y="5209"/>
                </a:lnTo>
                <a:cubicBezTo>
                  <a:pt x="29211" y="5462"/>
                  <a:pt x="29084" y="5589"/>
                  <a:pt x="28830" y="5589"/>
                </a:cubicBezTo>
                <a:lnTo>
                  <a:pt x="380" y="5589"/>
                </a:lnTo>
                <a:cubicBezTo>
                  <a:pt x="127" y="5589"/>
                  <a:pt x="0" y="5462"/>
                  <a:pt x="0" y="5209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28830" y="0"/>
                </a:lnTo>
                <a:close/>
              </a:path>
            </a:pathLst>
          </a:custGeom>
          <a:solidFill>
            <a:srgbClr val="f0edff"/>
          </a:solidFill>
          <a:ln w="25560">
            <a:solidFill>
              <a:srgbClr val="7b39ed"/>
            </a:solidFill>
            <a:round/>
          </a:ln>
        </p:spPr>
        <p:txBody>
          <a:bodyPr lIns="102600" rIns="102600" tIns="57600" bIns="576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3990320" y="23728680"/>
            <a:ext cx="45720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900" spc="-1" strike="noStrike">
                <a:solidFill>
                  <a:srgbClr val="7b39ed"/>
                </a:solidFill>
                <a:latin typeface="Arial-Black"/>
                <a:ea typeface="Arial-Black"/>
              </a:rPr>
              <a:t>PHASE 1: Frozen Backbone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8562320" y="23728680"/>
            <a:ext cx="50292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500" spc="-1" strike="noStrike">
                <a:solidFill>
                  <a:srgbClr val="7b39ed"/>
                </a:solidFill>
                <a:latin typeface="Arial-ItalicMT"/>
                <a:ea typeface="Arial-ItalicMT"/>
              </a:rPr>
              <a:t>(Kaggle + Webcam combined)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14036040" y="24277320"/>
            <a:ext cx="9784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Train classification head only — backbone weights locked. AdamW (weight decay 1e-4), cosine LR 1e-3 → 1e-5, batch 32. EarlyStopping on val_accuracy, label smoothing 0.1.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18562320" y="25694640"/>
            <a:ext cx="0" cy="320040"/>
          </a:xfrm>
          <a:prstGeom prst="line">
            <a:avLst/>
          </a:prstGeom>
          <a:ln w="38160">
            <a:solidFill>
              <a:srgbClr val="46546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3716000" y="26151840"/>
            <a:ext cx="10515960" cy="2012040"/>
          </a:xfrm>
          <a:custGeom>
            <a:avLst/>
            <a:gdLst/>
            <a:ahLst/>
            <a:rect l="0" t="0" r="r" b="b"/>
            <a:pathLst>
              <a:path w="29211" h="5589">
                <a:moveTo>
                  <a:pt x="28830" y="0"/>
                </a:moveTo>
                <a:cubicBezTo>
                  <a:pt x="29084" y="0"/>
                  <a:pt x="29211" y="127"/>
                  <a:pt x="29211" y="380"/>
                </a:cubicBezTo>
                <a:lnTo>
                  <a:pt x="29211" y="5209"/>
                </a:lnTo>
                <a:cubicBezTo>
                  <a:pt x="29211" y="5462"/>
                  <a:pt x="29084" y="5589"/>
                  <a:pt x="28830" y="5589"/>
                </a:cubicBezTo>
                <a:lnTo>
                  <a:pt x="380" y="5589"/>
                </a:lnTo>
                <a:cubicBezTo>
                  <a:pt x="127" y="5589"/>
                  <a:pt x="0" y="5462"/>
                  <a:pt x="0" y="5209"/>
                </a:cubicBezTo>
                <a:lnTo>
                  <a:pt x="0" y="380"/>
                </a:lnTo>
                <a:cubicBezTo>
                  <a:pt x="0" y="127"/>
                  <a:pt x="127" y="0"/>
                  <a:pt x="380" y="0"/>
                </a:cubicBezTo>
                <a:lnTo>
                  <a:pt x="28830" y="0"/>
                </a:lnTo>
                <a:close/>
              </a:path>
            </a:pathLst>
          </a:custGeom>
          <a:solidFill>
            <a:srgbClr val="fff5eb"/>
          </a:solidFill>
          <a:ln w="25560">
            <a:solidFill>
              <a:srgbClr val="d97605"/>
            </a:solidFill>
            <a:round/>
          </a:ln>
        </p:spPr>
        <p:txBody>
          <a:bodyPr lIns="102600" rIns="102600" tIns="57600" bIns="576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990320" y="26197560"/>
            <a:ext cx="50292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900" spc="-1" strike="noStrike">
                <a:solidFill>
                  <a:srgbClr val="d97605"/>
                </a:solidFill>
                <a:latin typeface="Arial-Black"/>
                <a:ea typeface="Arial-Black"/>
              </a:rPr>
              <a:t>PHASE 2: Fine-Tune Top 40 Layers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9019520" y="26197560"/>
            <a:ext cx="4572000" cy="502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500" spc="-1" strike="noStrike">
                <a:solidFill>
                  <a:srgbClr val="d97605"/>
                </a:solidFill>
                <a:latin typeface="Arial-ItalicMT"/>
                <a:ea typeface="Arial-ItalicMT"/>
              </a:rPr>
              <a:t>(Webcam data ONLY)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4036040" y="26746200"/>
            <a:ext cx="9784080" cy="128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212121"/>
                </a:solidFill>
                <a:latin typeface="ArialMT"/>
                <a:ea typeface="ArialMT"/>
              </a:rPr>
              <a:t>Adapt backbone to deployment conditions — no Kaggle pull-back. Cosine LR 1e-5 → 1e-7, AdamW, label smoothing, mixed precision (float16). Session-separated validation from a different day and room.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25603200" y="4663440"/>
            <a:ext cx="11887560" cy="5029560"/>
          </a:xfrm>
          <a:custGeom>
            <a:avLst/>
            <a:gdLst/>
            <a:ahLst/>
            <a:rect l="0" t="0" r="r" b="b"/>
            <a:pathLst>
              <a:path w="33021" h="13971">
                <a:moveTo>
                  <a:pt x="0" y="0"/>
                </a:moveTo>
                <a:lnTo>
                  <a:pt x="33021" y="0"/>
                </a:lnTo>
                <a:lnTo>
                  <a:pt x="33021" y="13971"/>
                </a:lnTo>
                <a:lnTo>
                  <a:pt x="0" y="1397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5968960" y="48920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KEY ACHIEVEMENTS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5968960" y="56235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5877520" y="6035040"/>
            <a:ext cx="347472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6000" spc="-1" strike="noStrike">
                <a:solidFill>
                  <a:srgbClr val="c75a11"/>
                </a:solidFill>
                <a:latin typeface="Arial-Black"/>
                <a:ea typeface="Arial-Black"/>
              </a:rPr>
              <a:t>30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5877520" y="7223760"/>
            <a:ext cx="347472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465468"/>
                </a:solidFill>
                <a:latin typeface="ArialMT"/>
                <a:ea typeface="ArialMT"/>
              </a:rPr>
              <a:t>FPS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600" spc="-1" strike="noStrike">
                <a:solidFill>
                  <a:srgbClr val="465468"/>
                </a:solidFill>
                <a:latin typeface="ArialMT"/>
                <a:ea typeface="ArialMT"/>
              </a:rPr>
              <a:t>real-time on M1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9626560" y="6035040"/>
            <a:ext cx="347472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6000" spc="-1" strike="noStrike">
                <a:solidFill>
                  <a:srgbClr val="2462eb"/>
                </a:solidFill>
                <a:latin typeface="Arial-Black"/>
                <a:ea typeface="Arial-Black"/>
              </a:rPr>
              <a:t>98.3%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9626560" y="7223760"/>
            <a:ext cx="347472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465468"/>
                </a:solidFill>
                <a:latin typeface="ArialMT"/>
                <a:ea typeface="ArialMT"/>
              </a:rPr>
              <a:t>VAL ACCURACY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600" spc="-1" strike="noStrike">
                <a:solidFill>
                  <a:srgbClr val="465468"/>
                </a:solidFill>
                <a:latin typeface="ArialMT"/>
                <a:ea typeface="ArialMT"/>
              </a:rPr>
              <a:t>session-separated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3375600" y="6035040"/>
            <a:ext cx="347472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6000" spc="-1" strike="noStrike">
                <a:solidFill>
                  <a:srgbClr val="049668"/>
                </a:solidFill>
                <a:latin typeface="Arial-Black"/>
                <a:ea typeface="Arial-Black"/>
              </a:rPr>
              <a:t>27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3375600" y="7223760"/>
            <a:ext cx="3474720" cy="8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465468"/>
                </a:solidFill>
                <a:latin typeface="ArialMT"/>
                <a:ea typeface="ArialMT"/>
              </a:rPr>
              <a:t>CLASSES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US" sz="1600" spc="-1" strike="noStrike">
                <a:solidFill>
                  <a:srgbClr val="465468"/>
                </a:solidFill>
                <a:latin typeface="ArialMT"/>
                <a:ea typeface="ArialMT"/>
              </a:rPr>
              <a:t>A–Z + space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6014680" y="8138160"/>
            <a:ext cx="11064240" cy="199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212121"/>
                </a:solidFill>
                <a:latin typeface="ArialMT"/>
                <a:ea typeface="ArialMT"/>
              </a:rPr>
              <a:t>98.3% accuracy on a held-out session in a different room — the honest deployment metric. 21 of 27 letters above 99% individually; 7 letters at perfect 100%.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71080" indent="-271080">
              <a:spcAft>
                <a:spcPts val="1001"/>
              </a:spcAft>
              <a:buClr>
                <a:srgbClr val="000000"/>
              </a:buClr>
              <a:buSzPct val="45000"/>
              <a:buFont typeface=""/>
              <a:buChar char=""/>
            </a:pPr>
            <a:r>
              <a:rPr b="0" lang="en-US" sz="2000" spc="-1" strike="noStrike">
                <a:solidFill>
                  <a:srgbClr val="212121"/>
                </a:solidFill>
                <a:latin typeface="ArialMT"/>
                <a:ea typeface="ArialMT"/>
              </a:rPr>
              <a:t>Phase 2 fine-tuning lifted val accuracy from 84.2% (frozen backbone) to 98.3% (fine-tuned). Multi-session capture across 6 conditions eliminates environmental shortcuts.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25603200" y="10149840"/>
            <a:ext cx="11887560" cy="9144360"/>
          </a:xfrm>
          <a:custGeom>
            <a:avLst/>
            <a:gdLst/>
            <a:ahLst/>
            <a:rect l="0" t="0" r="r" b="b"/>
            <a:pathLst>
              <a:path w="33021" h="25401">
                <a:moveTo>
                  <a:pt x="0" y="0"/>
                </a:moveTo>
                <a:lnTo>
                  <a:pt x="33021" y="0"/>
                </a:lnTo>
                <a:lnTo>
                  <a:pt x="33021" y="25401"/>
                </a:lnTo>
                <a:lnTo>
                  <a:pt x="0" y="2540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5968960" y="103784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KEY CHALLENGES &amp; SOLUTIONS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5968960" y="111099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5968960" y="11338560"/>
            <a:ext cx="457200" cy="457200"/>
          </a:xfrm>
          <a:custGeom>
            <a:avLst/>
            <a:gdLst/>
            <a:ahLst/>
            <a:rect l="0" t="0" r="r" b="b"/>
            <a:pathLst>
              <a:path w="1270" h="1270">
                <a:moveTo>
                  <a:pt x="1085" y="185"/>
                </a:moveTo>
                <a:cubicBezTo>
                  <a:pt x="1332" y="433"/>
                  <a:pt x="1332" y="837"/>
                  <a:pt x="1085" y="1085"/>
                </a:cubicBezTo>
                <a:cubicBezTo>
                  <a:pt x="837" y="1332"/>
                  <a:pt x="433" y="1332"/>
                  <a:pt x="185" y="1085"/>
                </a:cubicBezTo>
                <a:cubicBezTo>
                  <a:pt x="-61" y="837"/>
                  <a:pt x="-61" y="433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dc252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25968960" y="113385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26609040" y="1129284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dc2525"/>
                </a:solidFill>
                <a:latin typeface="Arial-BoldMT"/>
                <a:ea typeface="Arial-BoldMT"/>
              </a:rPr>
              <a:t>Double preprocessing bug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6609040" y="11750040"/>
            <a:ext cx="10515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212121"/>
                </a:solidFill>
                <a:latin typeface="ArialMT"/>
                <a:ea typeface="ArialMT"/>
              </a:rPr>
              <a:t>preprocess_input applied both inside the model AND in the live script, scaling images twice — collapsed every prediction to one class at 100% confidence. Fixed by feeding raw [0,255] pixels and letting the model's internal layer handle scaling.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25968960" y="12755880"/>
            <a:ext cx="457200" cy="457200"/>
          </a:xfrm>
          <a:custGeom>
            <a:avLst/>
            <a:gdLst/>
            <a:ahLst/>
            <a:rect l="0" t="0" r="r" b="b"/>
            <a:pathLst>
              <a:path w="1270" h="1270">
                <a:moveTo>
                  <a:pt x="1085" y="185"/>
                </a:moveTo>
                <a:cubicBezTo>
                  <a:pt x="1332" y="433"/>
                  <a:pt x="1332" y="837"/>
                  <a:pt x="1085" y="1085"/>
                </a:cubicBezTo>
                <a:cubicBezTo>
                  <a:pt x="837" y="1332"/>
                  <a:pt x="433" y="1332"/>
                  <a:pt x="185" y="1085"/>
                </a:cubicBezTo>
                <a:cubicBezTo>
                  <a:pt x="-61" y="837"/>
                  <a:pt x="-61" y="433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d9760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5968960" y="1275588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26609040" y="1271016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d97605"/>
                </a:solidFill>
                <a:latin typeface="Arial-BoldMT"/>
                <a:ea typeface="Arial-BoldMT"/>
              </a:rPr>
              <a:t>Validation accuracy inflation (99.7%)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6609040" y="13167360"/>
            <a:ext cx="10515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212121"/>
                </a:solidFill>
                <a:latin typeface="ArialMT"/>
                <a:ea typeface="ArialMT"/>
              </a:rPr>
              <a:t>Random 80/20 split leaked adjacent webcam frames into both sets. Switched to session-separated validation captured on a different day in a different room.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5968960" y="14173200"/>
            <a:ext cx="457200" cy="457200"/>
          </a:xfrm>
          <a:custGeom>
            <a:avLst/>
            <a:gdLst/>
            <a:ahLst/>
            <a:rect l="0" t="0" r="r" b="b"/>
            <a:pathLst>
              <a:path w="1270" h="1270">
                <a:moveTo>
                  <a:pt x="1085" y="185"/>
                </a:moveTo>
                <a:cubicBezTo>
                  <a:pt x="1332" y="433"/>
                  <a:pt x="1332" y="837"/>
                  <a:pt x="1085" y="1085"/>
                </a:cubicBezTo>
                <a:cubicBezTo>
                  <a:pt x="837" y="1332"/>
                  <a:pt x="433" y="1332"/>
                  <a:pt x="185" y="1085"/>
                </a:cubicBezTo>
                <a:cubicBezTo>
                  <a:pt x="-61" y="837"/>
                  <a:pt x="-61" y="433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7b39e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5968960" y="1417320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6609040" y="1412748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7b39ed"/>
                </a:solidFill>
                <a:latin typeface="Arial-BoldMT"/>
                <a:ea typeface="Arial-BoldMT"/>
              </a:rPr>
              <a:t>Slow inference at deploy time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6609040" y="14584680"/>
            <a:ext cx="10515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212121"/>
                </a:solidFill>
                <a:latin typeface="ArialMT"/>
                <a:ea typeface="ArialMT"/>
              </a:rPr>
              <a:t>model.predict() has graph-rebuild overhead per call, designed for batch inference. Switched to model(x, training=False) — 3 to 8 times faster on a single-frame webcam loop. This is what makes 30 FPS achievable without a dedicated GPU.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25968960" y="15590520"/>
            <a:ext cx="457200" cy="457200"/>
          </a:xfrm>
          <a:custGeom>
            <a:avLst/>
            <a:gdLst/>
            <a:ahLst/>
            <a:rect l="0" t="0" r="r" b="b"/>
            <a:pathLst>
              <a:path w="1270" h="1270">
                <a:moveTo>
                  <a:pt x="1085" y="185"/>
                </a:moveTo>
                <a:cubicBezTo>
                  <a:pt x="1332" y="433"/>
                  <a:pt x="1332" y="837"/>
                  <a:pt x="1085" y="1085"/>
                </a:cubicBezTo>
                <a:cubicBezTo>
                  <a:pt x="837" y="1332"/>
                  <a:pt x="433" y="1332"/>
                  <a:pt x="185" y="1085"/>
                </a:cubicBezTo>
                <a:cubicBezTo>
                  <a:pt x="-61" y="837"/>
                  <a:pt x="-61" y="433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2462eb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5968960" y="1559052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6609040" y="1554480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2462eb"/>
                </a:solidFill>
                <a:latin typeface="Arial-BoldMT"/>
                <a:ea typeface="Arial-BoldMT"/>
              </a:rPr>
              <a:t>Background shortcut learning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6609040" y="16002000"/>
            <a:ext cx="10515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212121"/>
                </a:solidFill>
                <a:latin typeface="ArialMT"/>
                <a:ea typeface="ArialMT"/>
              </a:rPr>
              <a:t>Initial captures used mostly blank white walls — the model learned wall color, not hand shape. Added wood panel, cluttered bookshelf, whiteboard with content across 6 conditions.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25968960" y="1700784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0791b2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5968960" y="1700784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6609040" y="16962120"/>
            <a:ext cx="105156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791b2"/>
                </a:solidFill>
                <a:latin typeface="Arial-BoldMT"/>
                <a:ea typeface="Arial-BoldMT"/>
              </a:rPr>
              <a:t>Keras version mismatch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6609040" y="17419320"/>
            <a:ext cx="10515600" cy="91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212121"/>
                </a:solidFill>
                <a:latin typeface="ArialMT"/>
                <a:ea typeface="ArialMT"/>
              </a:rPr>
              <a:t>Colab's Keras 3.x saved metadata the local Mac couldn't deserialize. Solved by saving weights only and rebuilding identical architecture locally.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25968960" y="184251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46546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5968960" y="184251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Arial-Black"/>
                <a:ea typeface="Arial-Black"/>
              </a:rPr>
              <a:t>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6609040" y="18319680"/>
            <a:ext cx="1051560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465468"/>
                </a:solidFill>
                <a:latin typeface="Arial-BoldMT"/>
                <a:ea typeface="Arial-BoldMT"/>
              </a:rPr>
              <a:t>Letter-correlated background area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6609040" y="18696600"/>
            <a:ext cx="10515600" cy="59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700" spc="-1" strike="noStrike">
                <a:solidFill>
                  <a:srgbClr val="212121"/>
                </a:solidFill>
                <a:latin typeface="ArialMT"/>
                <a:ea typeface="ArialMT"/>
              </a:rPr>
              <a:t>Loose clothing covered more frame area for fist letters (M, N) than open-hand letters (B, L). Fix: keep clothing constant per session, vary across sessions.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25603200" y="19751040"/>
            <a:ext cx="11887560" cy="4025880"/>
          </a:xfrm>
          <a:custGeom>
            <a:avLst/>
            <a:gdLst/>
            <a:ahLst/>
            <a:rect l="0" t="0" r="r" b="b"/>
            <a:pathLst>
              <a:path w="33021" h="11183">
                <a:moveTo>
                  <a:pt x="0" y="0"/>
                </a:moveTo>
                <a:lnTo>
                  <a:pt x="33021" y="0"/>
                </a:lnTo>
                <a:lnTo>
                  <a:pt x="33021" y="11183"/>
                </a:lnTo>
                <a:lnTo>
                  <a:pt x="0" y="111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25968960" y="199796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ITERATION TIMELINE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25968960" y="207111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26334720" y="21396960"/>
            <a:ext cx="10423800" cy="0"/>
          </a:xfrm>
          <a:prstGeom prst="line">
            <a:avLst/>
          </a:prstGeom>
          <a:ln w="3816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26106120" y="211683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dc252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6106120" y="211683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fffff"/>
                </a:solidFill>
                <a:latin typeface="Arial-BoldMT"/>
                <a:ea typeface="Arial-BoldMT"/>
              </a:rPr>
              <a:t>v1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25648920" y="21671280"/>
            <a:ext cx="137160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212121"/>
                </a:solidFill>
                <a:latin typeface="ArialMT"/>
                <a:ea typeface="ArialMT"/>
              </a:rPr>
              <a:t>128² preprocess bug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28190880" y="211683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d97605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8190880" y="211683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fffff"/>
                </a:solidFill>
                <a:latin typeface="Arial-BoldMT"/>
                <a:ea typeface="Arial-BoldMT"/>
              </a:rPr>
              <a:t>v2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7733680" y="21671280"/>
            <a:ext cx="137160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212121"/>
                </a:solidFill>
                <a:latin typeface="ArialMT"/>
                <a:ea typeface="ArialMT"/>
              </a:rPr>
              <a:t>Balanced dataset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0275640" y="211683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2462eb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0275640" y="211683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fffff"/>
                </a:solidFill>
                <a:latin typeface="Arial-BoldMT"/>
                <a:ea typeface="Arial-BoldMT"/>
              </a:rPr>
              <a:t>v3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9818440" y="21671280"/>
            <a:ext cx="137160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212121"/>
                </a:solidFill>
                <a:latin typeface="ArialMT"/>
                <a:ea typeface="ArialMT"/>
              </a:rPr>
              <a:t>160² two-phase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32360760" y="211683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7b39e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2360760" y="211683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fffff"/>
                </a:solidFill>
                <a:latin typeface="Arial-BoldMT"/>
                <a:ea typeface="Arial-BoldMT"/>
              </a:rPr>
              <a:t>v4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1903560" y="21671280"/>
            <a:ext cx="137160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212121"/>
                </a:solidFill>
                <a:latin typeface="ArialMT"/>
                <a:ea typeface="ArialMT"/>
              </a:rPr>
              <a:t>224² mixed precision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34445520" y="211683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0791b2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4445520" y="211683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fffff"/>
                </a:solidFill>
                <a:latin typeface="Arial-BoldMT"/>
                <a:ea typeface="Arial-BoldMT"/>
              </a:rPr>
              <a:t>v5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33988320" y="21671280"/>
            <a:ext cx="137160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212121"/>
                </a:solidFill>
                <a:latin typeface="ArialMT"/>
                <a:ea typeface="ArialMT"/>
              </a:rPr>
              <a:t>Two-stage specialist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36530280" y="21168360"/>
            <a:ext cx="457200" cy="457560"/>
          </a:xfrm>
          <a:custGeom>
            <a:avLst/>
            <a:gdLst/>
            <a:ahLst/>
            <a:rect l="0" t="0" r="r" b="b"/>
            <a:pathLst>
              <a:path w="1270" h="1271">
                <a:moveTo>
                  <a:pt x="1085" y="185"/>
                </a:moveTo>
                <a:cubicBezTo>
                  <a:pt x="1332" y="434"/>
                  <a:pt x="1332" y="837"/>
                  <a:pt x="1085" y="1086"/>
                </a:cubicBezTo>
                <a:cubicBezTo>
                  <a:pt x="837" y="1333"/>
                  <a:pt x="433" y="1333"/>
                  <a:pt x="185" y="1086"/>
                </a:cubicBezTo>
                <a:cubicBezTo>
                  <a:pt x="-61" y="837"/>
                  <a:pt x="-61" y="434"/>
                  <a:pt x="185" y="185"/>
                </a:cubicBezTo>
                <a:cubicBezTo>
                  <a:pt x="433" y="-61"/>
                  <a:pt x="837" y="-61"/>
                  <a:pt x="1085" y="185"/>
                </a:cubicBezTo>
                <a:close/>
              </a:path>
            </a:pathLst>
          </a:custGeom>
          <a:solidFill>
            <a:srgbClr val="049668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6530280" y="21168360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1100" spc="-1" strike="noStrike">
                <a:solidFill>
                  <a:srgbClr val="ffffff"/>
                </a:solidFill>
                <a:latin typeface="Arial-BoldMT"/>
                <a:ea typeface="Arial-BoldMT"/>
              </a:rPr>
              <a:t>Final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36073080" y="21671280"/>
            <a:ext cx="1371600" cy="109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300" spc="-1" strike="noStrike">
                <a:solidFill>
                  <a:srgbClr val="212121"/>
                </a:solidFill>
                <a:latin typeface="ArialMT"/>
                <a:ea typeface="ArialMT"/>
              </a:rPr>
              <a:t>256², 6-condition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26060400" y="22860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i="1" lang="en-US" sz="1700" spc="-1" strike="noStrike">
                <a:solidFill>
                  <a:srgbClr val="465468"/>
                </a:solidFill>
                <a:latin typeface="Arial-ItalicMT"/>
                <a:ea typeface="Arial-ItalicMT"/>
              </a:rPr>
              <a:t>Six iterations, each correcting a specific bug or limitation found during live evaluation.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25603200" y="23865840"/>
            <a:ext cx="11887560" cy="4435200"/>
          </a:xfrm>
          <a:custGeom>
            <a:avLst/>
            <a:gdLst/>
            <a:ahLst/>
            <a:rect l="0" t="0" r="r" b="b"/>
            <a:pathLst>
              <a:path w="33021" h="12320">
                <a:moveTo>
                  <a:pt x="0" y="0"/>
                </a:moveTo>
                <a:lnTo>
                  <a:pt x="33021" y="0"/>
                </a:lnTo>
                <a:lnTo>
                  <a:pt x="33021" y="12320"/>
                </a:lnTo>
                <a:lnTo>
                  <a:pt x="0" y="12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80">
            <a:solidFill>
              <a:srgbClr val="d0d5dd"/>
            </a:solidFill>
            <a:round/>
          </a:ln>
        </p:spPr>
        <p:txBody>
          <a:bodyPr lIns="99360" rIns="99360" tIns="54360" bIns="543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25968960" y="24094440"/>
            <a:ext cx="11155680" cy="73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3000" spc="-1" strike="noStrike">
                <a:solidFill>
                  <a:srgbClr val="003265"/>
                </a:solidFill>
                <a:latin typeface="Arial-Black"/>
                <a:ea typeface="Arial-Black"/>
              </a:rPr>
              <a:t>FUTURE WORK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25968960" y="24825960"/>
            <a:ext cx="2286360" cy="73440"/>
          </a:xfrm>
          <a:custGeom>
            <a:avLst/>
            <a:gdLst/>
            <a:ahLst/>
            <a:rect l="0" t="0" r="r" b="b"/>
            <a:pathLst>
              <a:path w="6351" h="204">
                <a:moveTo>
                  <a:pt x="0" y="0"/>
                </a:moveTo>
                <a:lnTo>
                  <a:pt x="6351" y="0"/>
                </a:lnTo>
                <a:lnTo>
                  <a:pt x="6351" y="204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28440" bIns="28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6014680" y="25054560"/>
            <a:ext cx="11064240" cy="287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100" spc="-1" strike="noStrike">
                <a:solidFill>
                  <a:srgbClr val="003265"/>
                </a:solidFill>
                <a:latin typeface="Arial-BoldMT"/>
                <a:ea typeface="Arial-BoldMT"/>
              </a:rPr>
              <a:t>Improve letter E (currently 78.7% — confused with S in 54 of 54 errors). Capture more E variants from different angles to break the closed-fist visual ambiguity.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100" spc="-1" strike="noStrike">
                <a:solidFill>
                  <a:srgbClr val="003265"/>
                </a:solidFill>
                <a:latin typeface="Arial-BoldMT"/>
                <a:ea typeface="Arial-BoldMT"/>
              </a:rPr>
              <a:t>Temporal model for J and Z — LSTM or Transformer over frame embeddings for motion-defined letters.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100" spc="-1" strike="noStrike">
                <a:solidFill>
                  <a:srgbClr val="003265"/>
                </a:solidFill>
                <a:latin typeface="Arial-BoldMT"/>
                <a:ea typeface="Arial-BoldMT"/>
              </a:rPr>
              <a:t>Word-building mode — pause-to-confirm gesture for accumulating letters into words.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US" sz="2100" spc="-1" strike="noStrike">
                <a:solidFill>
                  <a:srgbClr val="003265"/>
                </a:solidFill>
                <a:latin typeface="Arial-BoldMT"/>
                <a:ea typeface="Arial-BoldMT"/>
              </a:rPr>
              <a:t>CoreML / TFLite conversion — further M1 speedup and mobile deployment path.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0" y="30540960"/>
            <a:ext cx="38405160" cy="110160"/>
          </a:xfrm>
          <a:custGeom>
            <a:avLst/>
            <a:gdLst/>
            <a:ahLst/>
            <a:rect l="0" t="0" r="r" b="b"/>
            <a:pathLst>
              <a:path w="106681" h="306">
                <a:moveTo>
                  <a:pt x="0" y="0"/>
                </a:moveTo>
                <a:lnTo>
                  <a:pt x="106681" y="0"/>
                </a:lnTo>
                <a:lnTo>
                  <a:pt x="106681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c75a11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0" y="30650760"/>
            <a:ext cx="38405160" cy="439200"/>
          </a:xfrm>
          <a:custGeom>
            <a:avLst/>
            <a:gdLst/>
            <a:ahLst/>
            <a:rect l="0" t="0" r="r" b="b"/>
            <a:pathLst>
              <a:path w="106681" h="1220">
                <a:moveTo>
                  <a:pt x="0" y="0"/>
                </a:moveTo>
                <a:lnTo>
                  <a:pt x="106681" y="0"/>
                </a:lnTo>
                <a:lnTo>
                  <a:pt x="106681" y="1220"/>
                </a:lnTo>
                <a:lnTo>
                  <a:pt x="0" y="1220"/>
                </a:lnTo>
                <a:lnTo>
                  <a:pt x="0" y="0"/>
                </a:lnTo>
                <a:close/>
              </a:path>
            </a:pathLst>
          </a:custGeom>
          <a:solidFill>
            <a:srgbClr val="091527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60120" y="30650760"/>
            <a:ext cx="36484560" cy="43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900" spc="-1" strike="noStrike">
                <a:solidFill>
                  <a:srgbClr val="8899aa"/>
                </a:solidFill>
                <a:latin typeface="ArialMT"/>
                <a:ea typeface="ArialMT"/>
              </a:rPr>
              <a:t>SUNY New Paltz  •  Computer Science Department  •  CPS 485 Senior Capstone  •  Spring 2026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